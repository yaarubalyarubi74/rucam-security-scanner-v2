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iro Bold" panose="020B0604020202020204" charset="-78"/>
      <p:regular r:id="rId3"/>
      <p:bold r:id="rId4"/>
    </p:embeddedFont>
    <p:embeddedFont>
      <p:font typeface="Canva Sans" panose="020B0604020202020204" charset="0"/>
      <p:regular r:id="rId5"/>
    </p:embeddedFont>
    <p:embeddedFont>
      <p:font typeface="Canva Sa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-76" y="2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ist.gov/cyberframework?utm_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hyperlink" Target="https://www.cybrary.it/blog/vulnerability-assessment-using-openvas-first-scan?utm_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iscozine.com/the-ppdioo-network-lifecycle/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newsroom.cisco.com/c/dam/r/newsroom/en/us/interactive/cybersecurity-readiness-index/documents/Cisco_Cybersecurity_Readiness_Index_FINAL.pdf?utm_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s://ijrpr.com/uploads/V4ISSUE11/IJRPR19300.pdf?utm_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462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86" r="-7572" b="-37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198790" y="6694878"/>
            <a:ext cx="4089210" cy="3592122"/>
          </a:xfrm>
          <a:custGeom>
            <a:avLst/>
            <a:gdLst/>
            <a:ahLst/>
            <a:cxnLst/>
            <a:rect l="l" t="t" r="r" b="b"/>
            <a:pathLst>
              <a:path w="4089210" h="3592122">
                <a:moveTo>
                  <a:pt x="0" y="0"/>
                </a:moveTo>
                <a:lnTo>
                  <a:pt x="4089210" y="0"/>
                </a:lnTo>
                <a:lnTo>
                  <a:pt x="4089210" y="3592122"/>
                </a:lnTo>
                <a:lnTo>
                  <a:pt x="0" y="3592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 r="-26881" b="-39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47175" y="455454"/>
            <a:ext cx="3733069" cy="1011342"/>
          </a:xfrm>
          <a:custGeom>
            <a:avLst/>
            <a:gdLst/>
            <a:ahLst/>
            <a:cxnLst/>
            <a:rect l="l" t="t" r="r" b="b"/>
            <a:pathLst>
              <a:path w="3733069" h="1011342">
                <a:moveTo>
                  <a:pt x="0" y="0"/>
                </a:moveTo>
                <a:lnTo>
                  <a:pt x="3733068" y="0"/>
                </a:lnTo>
                <a:lnTo>
                  <a:pt x="3733068" y="1011342"/>
                </a:lnTo>
                <a:lnTo>
                  <a:pt x="0" y="1011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84" t="-20844" r="-4336" b="-142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5730454" y="-221108"/>
            <a:ext cx="2129056" cy="2351017"/>
            <a:chOff x="0" y="0"/>
            <a:chExt cx="763006" cy="8425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006" cy="842551"/>
            </a:xfrm>
            <a:custGeom>
              <a:avLst/>
              <a:gdLst/>
              <a:ahLst/>
              <a:cxnLst/>
              <a:rect l="l" t="t" r="r" b="b"/>
              <a:pathLst>
                <a:path w="763006" h="842551">
                  <a:moveTo>
                    <a:pt x="112726" y="0"/>
                  </a:moveTo>
                  <a:lnTo>
                    <a:pt x="650280" y="0"/>
                  </a:lnTo>
                  <a:cubicBezTo>
                    <a:pt x="712537" y="0"/>
                    <a:pt x="763006" y="50469"/>
                    <a:pt x="763006" y="112726"/>
                  </a:cubicBezTo>
                  <a:lnTo>
                    <a:pt x="763006" y="729826"/>
                  </a:lnTo>
                  <a:cubicBezTo>
                    <a:pt x="763006" y="792082"/>
                    <a:pt x="712537" y="842551"/>
                    <a:pt x="650280" y="842551"/>
                  </a:cubicBezTo>
                  <a:lnTo>
                    <a:pt x="112726" y="842551"/>
                  </a:lnTo>
                  <a:cubicBezTo>
                    <a:pt x="50469" y="842551"/>
                    <a:pt x="0" y="792082"/>
                    <a:pt x="0" y="729826"/>
                  </a:cubicBezTo>
                  <a:lnTo>
                    <a:pt x="0" y="112726"/>
                  </a:lnTo>
                  <a:cubicBezTo>
                    <a:pt x="0" y="50469"/>
                    <a:pt x="50469" y="0"/>
                    <a:pt x="112726" y="0"/>
                  </a:cubicBezTo>
                  <a:close/>
                </a:path>
              </a:pathLst>
            </a:custGeom>
            <a:solidFill>
              <a:srgbClr val="FFFFFF">
                <a:alpha val="9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006" cy="880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54435" y="542440"/>
            <a:ext cx="11202822" cy="1587469"/>
            <a:chOff x="0" y="0"/>
            <a:chExt cx="2950537" cy="4180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50537" cy="418099"/>
            </a:xfrm>
            <a:custGeom>
              <a:avLst/>
              <a:gdLst/>
              <a:ahLst/>
              <a:cxnLst/>
              <a:rect l="l" t="t" r="r" b="b"/>
              <a:pathLst>
                <a:path w="2950537" h="418099">
                  <a:moveTo>
                    <a:pt x="26261" y="0"/>
                  </a:moveTo>
                  <a:lnTo>
                    <a:pt x="2924277" y="0"/>
                  </a:lnTo>
                  <a:cubicBezTo>
                    <a:pt x="2931241" y="0"/>
                    <a:pt x="2937921" y="2767"/>
                    <a:pt x="2942846" y="7692"/>
                  </a:cubicBezTo>
                  <a:cubicBezTo>
                    <a:pt x="2947771" y="12616"/>
                    <a:pt x="2950537" y="19296"/>
                    <a:pt x="2950537" y="26261"/>
                  </a:cubicBezTo>
                  <a:lnTo>
                    <a:pt x="2950537" y="391838"/>
                  </a:lnTo>
                  <a:cubicBezTo>
                    <a:pt x="2950537" y="398803"/>
                    <a:pt x="2947771" y="405482"/>
                    <a:pt x="2942846" y="410407"/>
                  </a:cubicBezTo>
                  <a:cubicBezTo>
                    <a:pt x="2937921" y="415332"/>
                    <a:pt x="2931241" y="418099"/>
                    <a:pt x="2924277" y="418099"/>
                  </a:cubicBezTo>
                  <a:lnTo>
                    <a:pt x="26261" y="418099"/>
                  </a:lnTo>
                  <a:cubicBezTo>
                    <a:pt x="19296" y="418099"/>
                    <a:pt x="12616" y="415332"/>
                    <a:pt x="7692" y="410407"/>
                  </a:cubicBezTo>
                  <a:cubicBezTo>
                    <a:pt x="2767" y="405482"/>
                    <a:pt x="0" y="398803"/>
                    <a:pt x="0" y="391838"/>
                  </a:cubicBezTo>
                  <a:lnTo>
                    <a:pt x="0" y="26261"/>
                  </a:lnTo>
                  <a:cubicBezTo>
                    <a:pt x="0" y="19296"/>
                    <a:pt x="2767" y="12616"/>
                    <a:pt x="7692" y="7692"/>
                  </a:cubicBezTo>
                  <a:cubicBezTo>
                    <a:pt x="12616" y="2767"/>
                    <a:pt x="19296" y="0"/>
                    <a:pt x="262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950537" cy="418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7175" y="2536217"/>
            <a:ext cx="5189730" cy="2607283"/>
            <a:chOff x="0" y="0"/>
            <a:chExt cx="1366843" cy="7821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6843" cy="782190"/>
            </a:xfrm>
            <a:custGeom>
              <a:avLst/>
              <a:gdLst/>
              <a:ahLst/>
              <a:cxnLst/>
              <a:rect l="l" t="t" r="r" b="b"/>
              <a:pathLst>
                <a:path w="1366843" h="782190">
                  <a:moveTo>
                    <a:pt x="44753" y="0"/>
                  </a:moveTo>
                  <a:lnTo>
                    <a:pt x="1322089" y="0"/>
                  </a:lnTo>
                  <a:cubicBezTo>
                    <a:pt x="1333959" y="0"/>
                    <a:pt x="1345342" y="4715"/>
                    <a:pt x="1353735" y="13108"/>
                  </a:cubicBezTo>
                  <a:cubicBezTo>
                    <a:pt x="1362128" y="21501"/>
                    <a:pt x="1366843" y="32884"/>
                    <a:pt x="1366843" y="44753"/>
                  </a:cubicBezTo>
                  <a:lnTo>
                    <a:pt x="1366843" y="737437"/>
                  </a:lnTo>
                  <a:cubicBezTo>
                    <a:pt x="1366843" y="749306"/>
                    <a:pt x="1362128" y="760689"/>
                    <a:pt x="1353735" y="769082"/>
                  </a:cubicBezTo>
                  <a:cubicBezTo>
                    <a:pt x="1345342" y="777475"/>
                    <a:pt x="1333959" y="782190"/>
                    <a:pt x="1322089" y="782190"/>
                  </a:cubicBezTo>
                  <a:lnTo>
                    <a:pt x="44753" y="782190"/>
                  </a:lnTo>
                  <a:cubicBezTo>
                    <a:pt x="32884" y="782190"/>
                    <a:pt x="21501" y="777475"/>
                    <a:pt x="13108" y="769082"/>
                  </a:cubicBezTo>
                  <a:cubicBezTo>
                    <a:pt x="4715" y="760689"/>
                    <a:pt x="0" y="749306"/>
                    <a:pt x="0" y="737437"/>
                  </a:cubicBezTo>
                  <a:lnTo>
                    <a:pt x="0" y="44753"/>
                  </a:lnTo>
                  <a:cubicBezTo>
                    <a:pt x="0" y="32884"/>
                    <a:pt x="4715" y="21501"/>
                    <a:pt x="13108" y="13108"/>
                  </a:cubicBezTo>
                  <a:cubicBezTo>
                    <a:pt x="21501" y="4715"/>
                    <a:pt x="32884" y="0"/>
                    <a:pt x="44753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366843" cy="782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91200" y="2536217"/>
            <a:ext cx="5473985" cy="2636806"/>
            <a:chOff x="0" y="0"/>
            <a:chExt cx="1417802" cy="7821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7802" cy="782190"/>
            </a:xfrm>
            <a:custGeom>
              <a:avLst/>
              <a:gdLst/>
              <a:ahLst/>
              <a:cxnLst/>
              <a:rect l="l" t="t" r="r" b="b"/>
              <a:pathLst>
                <a:path w="1417802" h="782190">
                  <a:moveTo>
                    <a:pt x="43145" y="0"/>
                  </a:moveTo>
                  <a:lnTo>
                    <a:pt x="1374657" y="0"/>
                  </a:lnTo>
                  <a:cubicBezTo>
                    <a:pt x="1386100" y="0"/>
                    <a:pt x="1397074" y="4546"/>
                    <a:pt x="1405165" y="12637"/>
                  </a:cubicBezTo>
                  <a:cubicBezTo>
                    <a:pt x="1413256" y="20728"/>
                    <a:pt x="1417802" y="31702"/>
                    <a:pt x="1417802" y="43145"/>
                  </a:cubicBezTo>
                  <a:lnTo>
                    <a:pt x="1417802" y="739045"/>
                  </a:lnTo>
                  <a:cubicBezTo>
                    <a:pt x="1417802" y="750488"/>
                    <a:pt x="1413256" y="761462"/>
                    <a:pt x="1405165" y="769553"/>
                  </a:cubicBezTo>
                  <a:cubicBezTo>
                    <a:pt x="1397074" y="777644"/>
                    <a:pt x="1386100" y="782190"/>
                    <a:pt x="1374657" y="782190"/>
                  </a:cubicBezTo>
                  <a:lnTo>
                    <a:pt x="43145" y="782190"/>
                  </a:lnTo>
                  <a:cubicBezTo>
                    <a:pt x="31702" y="782190"/>
                    <a:pt x="20728" y="777644"/>
                    <a:pt x="12637" y="769553"/>
                  </a:cubicBezTo>
                  <a:cubicBezTo>
                    <a:pt x="4546" y="761462"/>
                    <a:pt x="0" y="750488"/>
                    <a:pt x="0" y="739045"/>
                  </a:cubicBezTo>
                  <a:lnTo>
                    <a:pt x="0" y="43145"/>
                  </a:lnTo>
                  <a:cubicBezTo>
                    <a:pt x="0" y="31702"/>
                    <a:pt x="4546" y="20728"/>
                    <a:pt x="12637" y="12637"/>
                  </a:cubicBezTo>
                  <a:cubicBezTo>
                    <a:pt x="20728" y="4546"/>
                    <a:pt x="31702" y="0"/>
                    <a:pt x="43145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417802" cy="782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85665" y="5632649"/>
            <a:ext cx="7925110" cy="4337995"/>
            <a:chOff x="0" y="0"/>
            <a:chExt cx="2087272" cy="10694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87272" cy="1069446"/>
            </a:xfrm>
            <a:custGeom>
              <a:avLst/>
              <a:gdLst/>
              <a:ahLst/>
              <a:cxnLst/>
              <a:rect l="l" t="t" r="r" b="b"/>
              <a:pathLst>
                <a:path w="2087272" h="1069446">
                  <a:moveTo>
                    <a:pt x="29307" y="0"/>
                  </a:moveTo>
                  <a:lnTo>
                    <a:pt x="2057965" y="0"/>
                  </a:lnTo>
                  <a:cubicBezTo>
                    <a:pt x="2065738" y="0"/>
                    <a:pt x="2073192" y="3088"/>
                    <a:pt x="2078688" y="8584"/>
                  </a:cubicBezTo>
                  <a:cubicBezTo>
                    <a:pt x="2084184" y="14080"/>
                    <a:pt x="2087272" y="21534"/>
                    <a:pt x="2087272" y="29307"/>
                  </a:cubicBezTo>
                  <a:lnTo>
                    <a:pt x="2087272" y="1040140"/>
                  </a:lnTo>
                  <a:cubicBezTo>
                    <a:pt x="2087272" y="1047912"/>
                    <a:pt x="2084184" y="1055366"/>
                    <a:pt x="2078688" y="1060862"/>
                  </a:cubicBezTo>
                  <a:cubicBezTo>
                    <a:pt x="2073192" y="1066358"/>
                    <a:pt x="2065738" y="1069446"/>
                    <a:pt x="2057965" y="1069446"/>
                  </a:cubicBezTo>
                  <a:lnTo>
                    <a:pt x="29307" y="1069446"/>
                  </a:lnTo>
                  <a:cubicBezTo>
                    <a:pt x="21534" y="1069446"/>
                    <a:pt x="14080" y="1066358"/>
                    <a:pt x="8584" y="1060862"/>
                  </a:cubicBezTo>
                  <a:cubicBezTo>
                    <a:pt x="3088" y="1055366"/>
                    <a:pt x="0" y="1047912"/>
                    <a:pt x="0" y="1040140"/>
                  </a:cubicBezTo>
                  <a:lnTo>
                    <a:pt x="0" y="29307"/>
                  </a:lnTo>
                  <a:cubicBezTo>
                    <a:pt x="0" y="21534"/>
                    <a:pt x="3088" y="14080"/>
                    <a:pt x="8584" y="8584"/>
                  </a:cubicBezTo>
                  <a:cubicBezTo>
                    <a:pt x="14080" y="3088"/>
                    <a:pt x="21534" y="0"/>
                    <a:pt x="29307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087272" cy="1069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77322" y="2536217"/>
            <a:ext cx="6382897" cy="2969878"/>
            <a:chOff x="0" y="0"/>
            <a:chExt cx="1681092" cy="7821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81092" cy="782190"/>
            </a:xfrm>
            <a:custGeom>
              <a:avLst/>
              <a:gdLst/>
              <a:ahLst/>
              <a:cxnLst/>
              <a:rect l="l" t="t" r="r" b="b"/>
              <a:pathLst>
                <a:path w="1681092" h="782190">
                  <a:moveTo>
                    <a:pt x="36387" y="0"/>
                  </a:moveTo>
                  <a:lnTo>
                    <a:pt x="1644705" y="0"/>
                  </a:lnTo>
                  <a:cubicBezTo>
                    <a:pt x="1664801" y="0"/>
                    <a:pt x="1681092" y="16291"/>
                    <a:pt x="1681092" y="36387"/>
                  </a:cubicBezTo>
                  <a:lnTo>
                    <a:pt x="1681092" y="745803"/>
                  </a:lnTo>
                  <a:cubicBezTo>
                    <a:pt x="1681092" y="765899"/>
                    <a:pt x="1664801" y="782190"/>
                    <a:pt x="1644705" y="782190"/>
                  </a:cubicBezTo>
                  <a:lnTo>
                    <a:pt x="36387" y="782190"/>
                  </a:lnTo>
                  <a:cubicBezTo>
                    <a:pt x="16291" y="782190"/>
                    <a:pt x="0" y="765899"/>
                    <a:pt x="0" y="745803"/>
                  </a:cubicBezTo>
                  <a:lnTo>
                    <a:pt x="0" y="36387"/>
                  </a:lnTo>
                  <a:cubicBezTo>
                    <a:pt x="0" y="16291"/>
                    <a:pt x="16291" y="0"/>
                    <a:pt x="36387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681092" cy="782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76613" y="5874303"/>
            <a:ext cx="6382897" cy="2219784"/>
            <a:chOff x="0" y="0"/>
            <a:chExt cx="1681092" cy="5846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81092" cy="584634"/>
            </a:xfrm>
            <a:custGeom>
              <a:avLst/>
              <a:gdLst/>
              <a:ahLst/>
              <a:cxnLst/>
              <a:rect l="l" t="t" r="r" b="b"/>
              <a:pathLst>
                <a:path w="1681092" h="584634">
                  <a:moveTo>
                    <a:pt x="36387" y="0"/>
                  </a:moveTo>
                  <a:lnTo>
                    <a:pt x="1644705" y="0"/>
                  </a:lnTo>
                  <a:cubicBezTo>
                    <a:pt x="1664801" y="0"/>
                    <a:pt x="1681092" y="16291"/>
                    <a:pt x="1681092" y="36387"/>
                  </a:cubicBezTo>
                  <a:lnTo>
                    <a:pt x="1681092" y="548247"/>
                  </a:lnTo>
                  <a:cubicBezTo>
                    <a:pt x="1681092" y="568343"/>
                    <a:pt x="1664801" y="584634"/>
                    <a:pt x="1644705" y="584634"/>
                  </a:cubicBezTo>
                  <a:lnTo>
                    <a:pt x="36387" y="584634"/>
                  </a:lnTo>
                  <a:cubicBezTo>
                    <a:pt x="16291" y="584634"/>
                    <a:pt x="0" y="568343"/>
                    <a:pt x="0" y="548247"/>
                  </a:cubicBezTo>
                  <a:lnTo>
                    <a:pt x="0" y="36387"/>
                  </a:lnTo>
                  <a:cubicBezTo>
                    <a:pt x="0" y="16291"/>
                    <a:pt x="16291" y="0"/>
                    <a:pt x="36387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681092" cy="584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76613" y="8490939"/>
            <a:ext cx="6382897" cy="1443917"/>
            <a:chOff x="0" y="0"/>
            <a:chExt cx="1681092" cy="3802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81092" cy="380291"/>
            </a:xfrm>
            <a:custGeom>
              <a:avLst/>
              <a:gdLst/>
              <a:ahLst/>
              <a:cxnLst/>
              <a:rect l="l" t="t" r="r" b="b"/>
              <a:pathLst>
                <a:path w="1681092" h="380291">
                  <a:moveTo>
                    <a:pt x="36387" y="0"/>
                  </a:moveTo>
                  <a:lnTo>
                    <a:pt x="1644705" y="0"/>
                  </a:lnTo>
                  <a:cubicBezTo>
                    <a:pt x="1664801" y="0"/>
                    <a:pt x="1681092" y="16291"/>
                    <a:pt x="1681092" y="36387"/>
                  </a:cubicBezTo>
                  <a:lnTo>
                    <a:pt x="1681092" y="343903"/>
                  </a:lnTo>
                  <a:cubicBezTo>
                    <a:pt x="1681092" y="364000"/>
                    <a:pt x="1664801" y="380291"/>
                    <a:pt x="1644705" y="380291"/>
                  </a:cubicBezTo>
                  <a:lnTo>
                    <a:pt x="36387" y="380291"/>
                  </a:lnTo>
                  <a:cubicBezTo>
                    <a:pt x="16291" y="380291"/>
                    <a:pt x="0" y="364000"/>
                    <a:pt x="0" y="343903"/>
                  </a:cubicBezTo>
                  <a:lnTo>
                    <a:pt x="0" y="36387"/>
                  </a:lnTo>
                  <a:cubicBezTo>
                    <a:pt x="0" y="16291"/>
                    <a:pt x="16291" y="0"/>
                    <a:pt x="36387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681092" cy="380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7175" y="5589161"/>
            <a:ext cx="2772654" cy="4345696"/>
            <a:chOff x="0" y="0"/>
            <a:chExt cx="730246" cy="106944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0246" cy="1069446"/>
            </a:xfrm>
            <a:custGeom>
              <a:avLst/>
              <a:gdLst/>
              <a:ahLst/>
              <a:cxnLst/>
              <a:rect l="l" t="t" r="r" b="b"/>
              <a:pathLst>
                <a:path w="730246" h="1069446">
                  <a:moveTo>
                    <a:pt x="83767" y="0"/>
                  </a:moveTo>
                  <a:lnTo>
                    <a:pt x="646479" y="0"/>
                  </a:lnTo>
                  <a:cubicBezTo>
                    <a:pt x="668695" y="0"/>
                    <a:pt x="690002" y="8825"/>
                    <a:pt x="705711" y="24535"/>
                  </a:cubicBezTo>
                  <a:cubicBezTo>
                    <a:pt x="721421" y="40244"/>
                    <a:pt x="730246" y="61551"/>
                    <a:pt x="730246" y="83767"/>
                  </a:cubicBezTo>
                  <a:lnTo>
                    <a:pt x="730246" y="985679"/>
                  </a:lnTo>
                  <a:cubicBezTo>
                    <a:pt x="730246" y="1007895"/>
                    <a:pt x="721421" y="1029202"/>
                    <a:pt x="705711" y="1044911"/>
                  </a:cubicBezTo>
                  <a:cubicBezTo>
                    <a:pt x="690002" y="1060621"/>
                    <a:pt x="668695" y="1069446"/>
                    <a:pt x="646479" y="1069446"/>
                  </a:cubicBezTo>
                  <a:lnTo>
                    <a:pt x="83767" y="1069446"/>
                  </a:lnTo>
                  <a:cubicBezTo>
                    <a:pt x="61551" y="1069446"/>
                    <a:pt x="40244" y="1060621"/>
                    <a:pt x="24535" y="1044911"/>
                  </a:cubicBezTo>
                  <a:cubicBezTo>
                    <a:pt x="8825" y="1029202"/>
                    <a:pt x="0" y="1007895"/>
                    <a:pt x="0" y="985679"/>
                  </a:cubicBezTo>
                  <a:lnTo>
                    <a:pt x="0" y="83767"/>
                  </a:lnTo>
                  <a:cubicBezTo>
                    <a:pt x="0" y="61551"/>
                    <a:pt x="8825" y="40244"/>
                    <a:pt x="24535" y="24535"/>
                  </a:cubicBezTo>
                  <a:cubicBezTo>
                    <a:pt x="40244" y="8825"/>
                    <a:pt x="61551" y="0"/>
                    <a:pt x="83767" y="0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730246" cy="1069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066856" y="515009"/>
            <a:ext cx="1494602" cy="1466664"/>
            <a:chOff x="0" y="0"/>
            <a:chExt cx="393640" cy="38628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3640" cy="386282"/>
            </a:xfrm>
            <a:custGeom>
              <a:avLst/>
              <a:gdLst/>
              <a:ahLst/>
              <a:cxnLst/>
              <a:rect l="l" t="t" r="r" b="b"/>
              <a:pathLst>
                <a:path w="393640" h="386282">
                  <a:moveTo>
                    <a:pt x="0" y="0"/>
                  </a:moveTo>
                  <a:lnTo>
                    <a:pt x="393640" y="0"/>
                  </a:lnTo>
                  <a:lnTo>
                    <a:pt x="393640" y="386282"/>
                  </a:lnTo>
                  <a:lnTo>
                    <a:pt x="0" y="38628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393640" cy="386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5936320" y="208442"/>
            <a:ext cx="17173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</a:pPr>
            <a:r>
              <a:rPr lang="en-US" sz="1598" b="1">
                <a:solidFill>
                  <a:srgbClr val="1A2F61"/>
                </a:solidFill>
                <a:latin typeface="Cairo Bold"/>
                <a:ea typeface="Cairo Bold"/>
                <a:cs typeface="Cairo Bold"/>
                <a:sym typeface="Cairo Bold"/>
              </a:rPr>
              <a:t>View my Profile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1650" y="1476321"/>
            <a:ext cx="2992785" cy="505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1709" dirty="0">
                <a:solidFill>
                  <a:srgbClr val="FFBD59"/>
                </a:solidFill>
                <a:latin typeface="Canva Sans"/>
                <a:ea typeface="Canva Sans"/>
                <a:cs typeface="Canva Sans"/>
                <a:sym typeface="Canva Sans"/>
              </a:rPr>
              <a:t>Department of Computing</a:t>
            </a:r>
          </a:p>
          <a:p>
            <a:pPr algn="l">
              <a:lnSpc>
                <a:spcPts val="2085"/>
              </a:lnSpc>
            </a:pPr>
            <a:r>
              <a:rPr lang="en-US" sz="1709" dirty="0">
                <a:solidFill>
                  <a:srgbClr val="FFBD59"/>
                </a:solidFill>
                <a:latin typeface="Canva Sans"/>
                <a:ea typeface="Canva Sans"/>
                <a:cs typeface="Canva Sans"/>
                <a:sym typeface="Canva Sans"/>
              </a:rPr>
              <a:t>&amp; Electronics Engineering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16646" y="669453"/>
            <a:ext cx="1806683" cy="322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1916" b="1" dirty="0">
                <a:solidFill>
                  <a:srgbClr val="1A2F6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Title: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46279" y="1654781"/>
            <a:ext cx="2558968" cy="323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1916" b="1" dirty="0">
                <a:solidFill>
                  <a:srgbClr val="1A2F6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 ID &amp; Name: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96600" y="1654781"/>
            <a:ext cx="2057400" cy="322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1916" b="1" dirty="0">
                <a:solidFill>
                  <a:srgbClr val="1A2F6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Supervised by: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7322" y="2187059"/>
            <a:ext cx="4450724" cy="34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7322" y="5239980"/>
            <a:ext cx="2607334" cy="34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Resource Plan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08169" y="5247681"/>
            <a:ext cx="7280103" cy="34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Diagrams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04016" y="5525145"/>
            <a:ext cx="5949629" cy="34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Prototypes/Screen Designs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704016" y="8113136"/>
            <a:ext cx="5857442" cy="34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References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043478" y="2187059"/>
            <a:ext cx="5205245" cy="34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Scope (Aim, Objectives &amp; Stakeholders)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704016" y="2187059"/>
            <a:ext cx="5857442" cy="34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&amp; its Rationale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2C94F1-B51B-B0AF-7722-3E7C7070DE64}"/>
              </a:ext>
            </a:extLst>
          </p:cNvPr>
          <p:cNvSpPr txBox="1"/>
          <p:nvPr/>
        </p:nvSpPr>
        <p:spPr>
          <a:xfrm>
            <a:off x="6043478" y="662666"/>
            <a:ext cx="9336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Designing, Implementing and Securing Network Infrastructure with Vulnerability Scanning for </a:t>
            </a:r>
            <a:r>
              <a:rPr lang="en-GB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Rukamco</a:t>
            </a:r>
            <a:r>
              <a:rPr lang="en-GB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LLC.</a:t>
            </a:r>
            <a:endParaRPr 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5DBE54-5455-2E09-A459-12CAA59E11EE}"/>
              </a:ext>
            </a:extLst>
          </p:cNvPr>
          <p:cNvSpPr txBox="1"/>
          <p:nvPr/>
        </p:nvSpPr>
        <p:spPr>
          <a:xfrm>
            <a:off x="6838274" y="1663821"/>
            <a:ext cx="38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22f23214 –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Yaarub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Talib Al-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yarobi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F42EE1-1BF4-AF1F-6C20-D023107273CF}"/>
              </a:ext>
            </a:extLst>
          </p:cNvPr>
          <p:cNvSpPr txBox="1"/>
          <p:nvPr/>
        </p:nvSpPr>
        <p:spPr>
          <a:xfrm>
            <a:off x="12607575" y="1689373"/>
            <a:ext cx="265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Mr.Muhammad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Sohail.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01F4EF-CA88-9F8D-B2DC-A4C4ADD2E09F}"/>
              </a:ext>
            </a:extLst>
          </p:cNvPr>
          <p:cNvSpPr txBox="1"/>
          <p:nvPr/>
        </p:nvSpPr>
        <p:spPr>
          <a:xfrm>
            <a:off x="631954" y="2665506"/>
            <a:ext cx="48544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Modern organizations depend on secure and efficient network infrastructures to support communication, data sharing, and operations. </a:t>
            </a:r>
            <a:r>
              <a:rPr lang="en-GB" sz="1600" dirty="0" err="1"/>
              <a:t>Rukamco</a:t>
            </a:r>
            <a:r>
              <a:rPr lang="en-GB" sz="1600" dirty="0"/>
              <a:t> LLC faced issues such as lack of network segmentation, weak security controls, and absence of continuous monitoring. This project proposes a structured, secure, and scalable network design integrated with vulnerability scanning and monitoring tools to enhance performance and cybersecurity.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142C89-95B1-4521-1463-2B1441D3E208}"/>
              </a:ext>
            </a:extLst>
          </p:cNvPr>
          <p:cNvSpPr txBox="1"/>
          <p:nvPr/>
        </p:nvSpPr>
        <p:spPr>
          <a:xfrm>
            <a:off x="5909673" y="2640420"/>
            <a:ext cx="52052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Aim:</a:t>
            </a:r>
          </a:p>
          <a:p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To design, implement, and secure a scalable network infrastructure for </a:t>
            </a:r>
            <a:r>
              <a:rPr lang="en-GB" sz="1000" dirty="0" err="1">
                <a:latin typeface="Arial" panose="020B0604020202020204" pitchFamily="34" charset="0"/>
                <a:cs typeface="Arial" panose="020B0604020202020204" pitchFamily="34" charset="0"/>
              </a:rPr>
              <a:t>Rukamco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LLC with integrated vulnerability scanning and centralized monitoring.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Analyze current network weaknesses.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Design hierarchical network (Core, Distribution, Access)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Implement VLAN-based segmentation.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Configure firewall and access control policies.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Integrate vulnerability scanning tools (OpenVAS, Nmap).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Enable centralized monitoring (SolarWinds).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Improve network performance, security, and scalability.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Stakeholders:</a:t>
            </a:r>
          </a:p>
          <a:p>
            <a:pPr marL="228600" indent="-228600">
              <a:buAutoNum type="arabicParenR"/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IT Administrators.</a:t>
            </a:r>
          </a:p>
          <a:p>
            <a:pPr marL="228600" indent="-228600">
              <a:buAutoNum type="arabicParenR"/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Network Engineer (Project Developer).</a:t>
            </a:r>
          </a:p>
          <a:p>
            <a:pPr marL="228600" indent="-228600">
              <a:buAutoNum type="arabicParenR"/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Employees (End Users).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86FC90-B8C4-8034-EF73-B1219386FAC8}"/>
              </a:ext>
            </a:extLst>
          </p:cNvPr>
          <p:cNvSpPr txBox="1"/>
          <p:nvPr/>
        </p:nvSpPr>
        <p:spPr>
          <a:xfrm>
            <a:off x="11624153" y="2693181"/>
            <a:ext cx="520524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Name of the Methodology: </a:t>
            </a:r>
            <a:r>
              <a:rPr lang="en-GB" sz="1100" dirty="0"/>
              <a:t>PPDIOO (Prepare, Plan, Design, Implement, Operate, </a:t>
            </a:r>
            <a:r>
              <a:rPr lang="en-GB" sz="1100" dirty="0" err="1"/>
              <a:t>Oiptimze</a:t>
            </a:r>
            <a:r>
              <a:rPr lang="en-GB" sz="1100" dirty="0"/>
              <a:t>).</a:t>
            </a:r>
          </a:p>
          <a:p>
            <a:r>
              <a:rPr lang="en-GB" sz="1100" b="1" dirty="0"/>
              <a:t>Stages:</a:t>
            </a:r>
            <a:endParaRPr lang="en-GB" sz="1100" dirty="0"/>
          </a:p>
          <a:p>
            <a:r>
              <a:rPr lang="en-GB" sz="1100" b="1" dirty="0"/>
              <a:t>Prepare:</a:t>
            </a:r>
            <a:r>
              <a:rPr lang="en-GB" sz="1100" dirty="0"/>
              <a:t> Identify business requirements, network problems, and security needs. </a:t>
            </a:r>
          </a:p>
          <a:p>
            <a:r>
              <a:rPr lang="en-GB" sz="1100" b="1" dirty="0"/>
              <a:t>Plan:</a:t>
            </a:r>
            <a:r>
              <a:rPr lang="en-GB" sz="1100" dirty="0"/>
              <a:t> </a:t>
            </a:r>
            <a:r>
              <a:rPr lang="en-GB" sz="1100" dirty="0" err="1"/>
              <a:t>Analyze</a:t>
            </a:r>
            <a:r>
              <a:rPr lang="en-GB" sz="1100" dirty="0"/>
              <a:t> current infrastructure and define technical requirements .</a:t>
            </a:r>
          </a:p>
          <a:p>
            <a:r>
              <a:rPr lang="en-GB" sz="1100" b="1" dirty="0"/>
              <a:t>Design:</a:t>
            </a:r>
            <a:r>
              <a:rPr lang="en-GB" sz="1100" dirty="0"/>
              <a:t> Create logical and physical network design (VLANs, topology, IP scheme) .</a:t>
            </a:r>
          </a:p>
          <a:p>
            <a:r>
              <a:rPr lang="en-GB" sz="1100" b="1" dirty="0"/>
              <a:t>Implement:</a:t>
            </a:r>
            <a:r>
              <a:rPr lang="en-GB" sz="1100" dirty="0"/>
              <a:t> Configure routers, switches, firewall, and security tools .</a:t>
            </a:r>
          </a:p>
          <a:p>
            <a:r>
              <a:rPr lang="en-GB" sz="1100" b="1" dirty="0"/>
              <a:t>Operate:</a:t>
            </a:r>
            <a:r>
              <a:rPr lang="en-GB" sz="1100" dirty="0"/>
              <a:t> Monitor network performance and ensure stable operation .</a:t>
            </a:r>
          </a:p>
          <a:p>
            <a:r>
              <a:rPr lang="en-GB" sz="1100" b="1" dirty="0"/>
              <a:t>Optimize:</a:t>
            </a:r>
            <a:r>
              <a:rPr lang="en-GB" sz="1100" dirty="0"/>
              <a:t> Improve performance, fix vulnerabilities, and </a:t>
            </a:r>
            <a:r>
              <a:rPr lang="en-GB" sz="1100"/>
              <a:t>enhance security.</a:t>
            </a:r>
            <a:endParaRPr lang="en-GB" sz="1100" dirty="0"/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Rationale:</a:t>
            </a:r>
          </a:p>
          <a:p>
            <a:pPr marL="228600" indent="-228600">
              <a:buAutoNum type="arabicParenR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Structured approach for network lifecycle.</a:t>
            </a:r>
          </a:p>
          <a:p>
            <a:pPr marL="228600" indent="-228600">
              <a:buAutoNum type="arabicParenR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Supports scalability and security.</a:t>
            </a:r>
          </a:p>
          <a:p>
            <a:pPr marL="228600" indent="-228600">
              <a:buAutoNum type="arabicParenR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Enables continuous monitoring and improvement.</a:t>
            </a:r>
          </a:p>
          <a:p>
            <a:pPr marL="228600" indent="-228600">
              <a:buAutoNum type="arabicParenR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Suitable for enterprise-level infrastructure.</a:t>
            </a:r>
          </a:p>
          <a:p>
            <a:pPr marL="228600" indent="-228600">
              <a:buAutoNum type="arabicParenR"/>
            </a:pPr>
            <a:r>
              <a:rPr lang="en-GB" sz="1100" dirty="0"/>
              <a:t>Supports proactive problem detection and optimization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122EF8-0F28-E83F-2913-B11D270E2DCB}"/>
              </a:ext>
            </a:extLst>
          </p:cNvPr>
          <p:cNvSpPr txBox="1"/>
          <p:nvPr/>
        </p:nvSpPr>
        <p:spPr>
          <a:xfrm>
            <a:off x="11567513" y="5942454"/>
            <a:ext cx="613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A60791-9B00-1280-2DEA-E32A68442D82}"/>
              </a:ext>
            </a:extLst>
          </p:cNvPr>
          <p:cNvSpPr txBox="1"/>
          <p:nvPr/>
        </p:nvSpPr>
        <p:spPr>
          <a:xfrm>
            <a:off x="11431010" y="8518418"/>
            <a:ext cx="6130447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GB" sz="800" dirty="0"/>
              <a:t>Cisco, 2024. </a:t>
            </a:r>
            <a:r>
              <a:rPr lang="en-GB" sz="800" i="1" dirty="0"/>
              <a:t>2024 Cisco Cybersecurity Readiness Index</a:t>
            </a:r>
            <a:r>
              <a:rPr lang="en-GB" sz="800" dirty="0"/>
              <a:t>. [Online] Available at: </a:t>
            </a:r>
            <a:r>
              <a:rPr lang="en-GB" sz="800" u="sng" dirty="0">
                <a:hlinkClick r:id="rId5"/>
              </a:rPr>
              <a:t>https://newsroom.cisco.com/c/dam/r/newsroom/en/us/interactive/cybersecurity-readiness-index/documents/Cisco_Cybersecurity_Readiness_Index_FINAL.pdf?utm_</a:t>
            </a:r>
            <a:r>
              <a:rPr lang="en-GB" sz="800" dirty="0"/>
              <a:t> [Accessed 11 </a:t>
            </a:r>
            <a:r>
              <a:rPr lang="en-GB" sz="800" dirty="0" err="1"/>
              <a:t>november</a:t>
            </a:r>
            <a:r>
              <a:rPr lang="en-GB" sz="800" dirty="0"/>
              <a:t> 2024].</a:t>
            </a:r>
          </a:p>
          <a:p>
            <a:pPr marL="228600" indent="-228600">
              <a:buFontTx/>
              <a:buAutoNum type="arabicParenR"/>
            </a:pPr>
            <a:r>
              <a:rPr lang="en-GB" sz="800" dirty="0" err="1"/>
              <a:t>ciscozine</a:t>
            </a:r>
            <a:r>
              <a:rPr lang="en-GB" sz="800" dirty="0"/>
              <a:t>, 2025. </a:t>
            </a:r>
            <a:r>
              <a:rPr lang="en-GB" sz="800" i="1" dirty="0"/>
              <a:t>The PPDIOO network lifecycle</a:t>
            </a:r>
            <a:r>
              <a:rPr lang="en-GB" sz="800" dirty="0"/>
              <a:t>. [Online] Available at: </a:t>
            </a:r>
            <a:r>
              <a:rPr lang="en-GB" sz="800" u="sng" dirty="0">
                <a:hlinkClick r:id="rId6"/>
              </a:rPr>
              <a:t>https://www.ciscozine.com/the-ppdioo-network-lifecycle/</a:t>
            </a:r>
            <a:r>
              <a:rPr lang="en-GB" sz="800" dirty="0"/>
              <a:t> [Accessed 21 </a:t>
            </a:r>
            <a:r>
              <a:rPr lang="en-GB" sz="800" dirty="0" err="1"/>
              <a:t>december</a:t>
            </a:r>
            <a:r>
              <a:rPr lang="en-GB" sz="800" dirty="0"/>
              <a:t> 2025].</a:t>
            </a:r>
          </a:p>
          <a:p>
            <a:pPr marL="228600" indent="-228600">
              <a:buFontTx/>
              <a:buAutoNum type="arabicParenR"/>
            </a:pPr>
            <a:r>
              <a:rPr lang="en-GB" sz="800" dirty="0" err="1"/>
              <a:t>cybrary</a:t>
            </a:r>
            <a:r>
              <a:rPr lang="en-GB" sz="800" dirty="0"/>
              <a:t>, 2025. </a:t>
            </a:r>
            <a:r>
              <a:rPr lang="en-GB" sz="800" i="1" dirty="0"/>
              <a:t>Vulnerability Assessment using </a:t>
            </a:r>
            <a:r>
              <a:rPr lang="en-GB" sz="800" i="1" dirty="0" err="1"/>
              <a:t>OpenVas</a:t>
            </a:r>
            <a:r>
              <a:rPr lang="en-GB" sz="800" i="1" dirty="0"/>
              <a:t> - First Scan</a:t>
            </a:r>
            <a:r>
              <a:rPr lang="en-GB" sz="800" dirty="0"/>
              <a:t>. [Online] Available at: </a:t>
            </a:r>
            <a:r>
              <a:rPr lang="en-GB" sz="800" u="sng" dirty="0">
                <a:hlinkClick r:id="rId7"/>
              </a:rPr>
              <a:t>https://www.cybrary.it/blog/vulnerability-assessment-using-openvas-first-scan?utm_</a:t>
            </a:r>
            <a:r>
              <a:rPr lang="en-GB" sz="800" dirty="0"/>
              <a:t> [Accessed Tuesday </a:t>
            </a:r>
            <a:r>
              <a:rPr lang="en-GB" sz="800" dirty="0" err="1"/>
              <a:t>december</a:t>
            </a:r>
            <a:r>
              <a:rPr lang="en-GB" sz="800" dirty="0"/>
              <a:t> 2025].</a:t>
            </a:r>
          </a:p>
          <a:p>
            <a:pPr marL="228600" indent="-228600">
              <a:buFontTx/>
              <a:buAutoNum type="arabicParenR"/>
            </a:pPr>
            <a:r>
              <a:rPr lang="en-GB" sz="800" dirty="0"/>
              <a:t>Framework, N.C., 2024. </a:t>
            </a:r>
            <a:r>
              <a:rPr lang="en-GB" sz="800" i="1" dirty="0"/>
              <a:t>Cybersecurity Framework</a:t>
            </a:r>
            <a:r>
              <a:rPr lang="en-GB" sz="800" dirty="0"/>
              <a:t>. [Online] Available at: </a:t>
            </a:r>
            <a:r>
              <a:rPr lang="en-GB" sz="800" u="sng" dirty="0">
                <a:hlinkClick r:id="rId8"/>
              </a:rPr>
              <a:t>https://www.nist.gov/cyberframework?utm_</a:t>
            </a:r>
            <a:r>
              <a:rPr lang="en-GB" sz="800" dirty="0"/>
              <a:t> [Accessed </a:t>
            </a:r>
            <a:r>
              <a:rPr lang="en-GB" sz="800" dirty="0" err="1"/>
              <a:t>monday</a:t>
            </a:r>
            <a:r>
              <a:rPr lang="en-GB" sz="800" dirty="0"/>
              <a:t> </a:t>
            </a:r>
            <a:r>
              <a:rPr lang="en-GB" sz="800" dirty="0" err="1"/>
              <a:t>december</a:t>
            </a:r>
            <a:r>
              <a:rPr lang="en-GB" sz="800" dirty="0"/>
              <a:t> 2025].</a:t>
            </a:r>
          </a:p>
          <a:p>
            <a:pPr marL="228600" indent="-228600">
              <a:buFontTx/>
              <a:buAutoNum type="arabicParenR"/>
            </a:pPr>
            <a:r>
              <a:rPr lang="en-GB" sz="800" dirty="0" err="1"/>
              <a:t>ijrpr</a:t>
            </a:r>
            <a:r>
              <a:rPr lang="en-GB" sz="800" dirty="0"/>
              <a:t>, 2022. </a:t>
            </a:r>
            <a:r>
              <a:rPr lang="en-GB" sz="800" i="1" dirty="0"/>
              <a:t>Network Traffic Analysis Using Wireshark</a:t>
            </a:r>
            <a:r>
              <a:rPr lang="en-GB" sz="800" dirty="0"/>
              <a:t>. [Online] Available at: </a:t>
            </a:r>
            <a:r>
              <a:rPr lang="en-GB" sz="800" u="sng" dirty="0">
                <a:hlinkClick r:id="rId9"/>
              </a:rPr>
              <a:t>https://ijrpr.com/uploads/V4ISSUE11/IJRPR19300.pdf?utm_</a:t>
            </a:r>
            <a:r>
              <a:rPr lang="en-GB" sz="800" dirty="0"/>
              <a:t> [Accessed Tuesday </a:t>
            </a:r>
            <a:r>
              <a:rPr lang="en-GB" sz="800" dirty="0" err="1"/>
              <a:t>december</a:t>
            </a:r>
            <a:r>
              <a:rPr lang="en-GB" sz="800" dirty="0"/>
              <a:t> 2025].</a:t>
            </a:r>
          </a:p>
          <a:p>
            <a:pPr marL="228600" indent="-228600">
              <a:buFontTx/>
              <a:buAutoNum type="arabicParenR"/>
            </a:pPr>
            <a:endParaRPr lang="en-GB" sz="900" dirty="0"/>
          </a:p>
          <a:p>
            <a:pPr marL="228600" indent="-228600">
              <a:buFontTx/>
              <a:buAutoNum type="arabicParenR"/>
            </a:pPr>
            <a:endParaRPr lang="en-GB" sz="900" dirty="0"/>
          </a:p>
          <a:p>
            <a:pPr marL="228600" indent="-228600">
              <a:buFontTx/>
              <a:buAutoNum type="arabicParenR"/>
            </a:pPr>
            <a:endParaRPr lang="en-GB" sz="1000" dirty="0"/>
          </a:p>
          <a:p>
            <a:pPr marL="228600" indent="-228600">
              <a:buAutoNum type="arabicParenR"/>
            </a:pPr>
            <a:endParaRPr lang="en-GB" sz="1000" dirty="0"/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9A7A9F-4875-39FF-7840-4F1FEB2987DE}"/>
              </a:ext>
            </a:extLst>
          </p:cNvPr>
          <p:cNvSpPr txBox="1"/>
          <p:nvPr/>
        </p:nvSpPr>
        <p:spPr>
          <a:xfrm>
            <a:off x="630479" y="5735803"/>
            <a:ext cx="226512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Hardware: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Routers.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Switches.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Firewall Appliance.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Workstations.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Software: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OpenVAS.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Wireshark.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SolarWinds.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Packet Tracer.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Windows/Linux OS.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Libraries / Tools: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Nmap (network scanning).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Python (automation scripts).</a:t>
            </a:r>
          </a:p>
          <a:p>
            <a:pPr marL="228600" indent="-228600">
              <a:buAutoNum type="arabicParenR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Network protocols (TCP/IP, VLANs, ACLs).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Documentation: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Microsoft Word, Cisco Packet Tracer (for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Network design(Logical &amp; Physical),IP addressing scheme, Configuration files (VLANs, ACLs, routing).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578C5BF-AD3C-B947-E8BD-030DCD598A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61127" y="3764780"/>
            <a:ext cx="1702875" cy="165889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43C73B0-9BDB-57DD-F544-912B88367D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77211" y="501296"/>
            <a:ext cx="1504371" cy="1466664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4B479204-A38E-45F1-3679-E98B6D6993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168" y="6086010"/>
            <a:ext cx="6883631" cy="376555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AF7980E-6A4F-FCCA-E522-4EDBB15E11FD}"/>
              </a:ext>
            </a:extLst>
          </p:cNvPr>
          <p:cNvSpPr txBox="1"/>
          <p:nvPr/>
        </p:nvSpPr>
        <p:spPr>
          <a:xfrm>
            <a:off x="3708168" y="5714284"/>
            <a:ext cx="7354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Real Time Vulnerability Scanning with OpenVAS: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45CFFC5-047F-87B1-6288-90CD99ADD34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76611" y="5873965"/>
            <a:ext cx="6364214" cy="2264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647</Words>
  <Application>Microsoft Office PowerPoint</Application>
  <PresentationFormat>Custom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Canva Sans</vt:lpstr>
      <vt:lpstr>Canva Sans Bold</vt:lpstr>
      <vt:lpstr>Cairo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- Presentation</dc:title>
  <dc:creator>user</dc:creator>
  <cp:lastModifiedBy>YAARUB TALIB BAKHIT AL YARBI</cp:lastModifiedBy>
  <cp:revision>5</cp:revision>
  <dcterms:created xsi:type="dcterms:W3CDTF">2006-08-16T00:00:00Z</dcterms:created>
  <dcterms:modified xsi:type="dcterms:W3CDTF">2026-05-03T15:49:25Z</dcterms:modified>
  <dc:identifier>DAGljwTkHR8</dc:identifier>
</cp:coreProperties>
</file>